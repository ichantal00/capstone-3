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3" r:id="rId5"/>
    <p:sldId id="260" r:id="rId6"/>
    <p:sldId id="262" r:id="rId7"/>
    <p:sldId id="265"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D161"/>
    <a:srgbClr val="000000"/>
    <a:srgbClr val="E3DA59"/>
    <a:srgbClr val="786310"/>
    <a:srgbClr val="786C10"/>
    <a:srgbClr val="91820D"/>
    <a:srgbClr val="CFCD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6FFB3B-EC5C-DFA2-82C7-EC5CFCFDBA6F}" v="2140" dt="2026-06-26T11:15:30.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old logo with a black background&#10;&#10;AI-generated content may be incorrect.">
            <a:extLst>
              <a:ext uri="{FF2B5EF4-FFF2-40B4-BE49-F238E27FC236}">
                <a16:creationId xmlns:a16="http://schemas.microsoft.com/office/drawing/2014/main" id="{EB5300AD-00A6-873C-485A-DF96552F7334}"/>
              </a:ext>
            </a:extLst>
          </p:cNvPr>
          <p:cNvPicPr>
            <a:picLocks noChangeAspect="1"/>
          </p:cNvPicPr>
          <p:nvPr/>
        </p:nvPicPr>
        <p:blipFill>
          <a:blip r:embed="rId2"/>
          <a:stretch>
            <a:fillRect/>
          </a:stretch>
        </p:blipFill>
        <p:spPr>
          <a:xfrm>
            <a:off x="2667000" y="0"/>
            <a:ext cx="6858000" cy="685800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50E9FAE8-378F-ABE3-EC01-EB6988C42AA4}"/>
              </a:ext>
            </a:extLst>
          </p:cNvPr>
          <p:cNvSpPr/>
          <p:nvPr/>
        </p:nvSpPr>
        <p:spPr>
          <a:xfrm>
            <a:off x="-1405165" y="-1017814"/>
            <a:ext cx="15002781" cy="4449081"/>
          </a:xfrm>
          <a:prstGeom prst="ellipse">
            <a:avLst/>
          </a:prstGeom>
          <a:solidFill>
            <a:srgbClr val="786310"/>
          </a:solidFill>
          <a:ln w="57150">
            <a:solidFill>
              <a:srgbClr val="EDD1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893CE3A-217B-E927-38BE-80E2FB3707E7}"/>
              </a:ext>
            </a:extLst>
          </p:cNvPr>
          <p:cNvSpPr>
            <a:spLocks noGrp="1"/>
          </p:cNvSpPr>
          <p:nvPr>
            <p:ph idx="1"/>
          </p:nvPr>
        </p:nvSpPr>
        <p:spPr>
          <a:xfrm>
            <a:off x="910771" y="4764767"/>
            <a:ext cx="11277601" cy="1825853"/>
          </a:xfrm>
        </p:spPr>
        <p:txBody>
          <a:bodyPr vert="horz" lIns="91440" tIns="45720" rIns="91440" bIns="45720" rtlCol="0" anchor="t">
            <a:normAutofit fontScale="92500" lnSpcReduction="10000"/>
          </a:bodyPr>
          <a:lstStyle/>
          <a:p>
            <a:pPr marL="0" indent="0" algn="r">
              <a:buNone/>
            </a:pPr>
            <a:r>
              <a:rPr lang="en-US" sz="4000">
                <a:solidFill>
                  <a:srgbClr val="EDD161"/>
                </a:solidFill>
                <a:latin typeface="Constantia"/>
              </a:rPr>
              <a:t>These regions include </a:t>
            </a:r>
          </a:p>
          <a:p>
            <a:pPr marL="0" indent="0" algn="r">
              <a:buNone/>
            </a:pPr>
            <a:r>
              <a:rPr lang="en-US" sz="4000">
                <a:solidFill>
                  <a:srgbClr val="EDD161"/>
                </a:solidFill>
                <a:latin typeface="Constantia"/>
              </a:rPr>
              <a:t>Maryland, Maine, Massachusetts, </a:t>
            </a:r>
            <a:endParaRPr lang="en-US">
              <a:solidFill>
                <a:srgbClr val="EDD161"/>
              </a:solidFill>
              <a:latin typeface="Constantia"/>
            </a:endParaRPr>
          </a:p>
          <a:p>
            <a:pPr marL="0" indent="0" algn="r">
              <a:buNone/>
            </a:pPr>
            <a:r>
              <a:rPr lang="en-US" sz="4000">
                <a:solidFill>
                  <a:srgbClr val="EDD161"/>
                </a:solidFill>
                <a:latin typeface="Constantia"/>
              </a:rPr>
              <a:t>and New Jersey</a:t>
            </a:r>
            <a:endParaRPr lang="en-US">
              <a:solidFill>
                <a:srgbClr val="EDD161"/>
              </a:solidFill>
              <a:latin typeface="Constantia"/>
            </a:endParaRPr>
          </a:p>
        </p:txBody>
      </p:sp>
      <p:sp>
        <p:nvSpPr>
          <p:cNvPr id="2" name="Title 1">
            <a:extLst>
              <a:ext uri="{FF2B5EF4-FFF2-40B4-BE49-F238E27FC236}">
                <a16:creationId xmlns:a16="http://schemas.microsoft.com/office/drawing/2014/main" id="{9CE3D75A-4836-3E45-B32C-22642AEEA74A}"/>
              </a:ext>
            </a:extLst>
          </p:cNvPr>
          <p:cNvSpPr>
            <a:spLocks noGrp="1"/>
          </p:cNvSpPr>
          <p:nvPr>
            <p:ph type="title"/>
          </p:nvPr>
        </p:nvSpPr>
        <p:spPr>
          <a:xfrm>
            <a:off x="910772" y="1714953"/>
            <a:ext cx="10515600" cy="1325563"/>
          </a:xfrm>
        </p:spPr>
        <p:txBody>
          <a:bodyPr>
            <a:normAutofit fontScale="90000"/>
          </a:bodyPr>
          <a:lstStyle/>
          <a:p>
            <a:r>
              <a:rPr lang="en-US" dirty="0">
                <a:solidFill>
                  <a:srgbClr val="000000"/>
                </a:solidFill>
                <a:latin typeface="Constantia"/>
              </a:rPr>
              <a:t>A Regional Director asked me to analyze the data from the Northeast Region for </a:t>
            </a:r>
            <a:r>
              <a:rPr lang="en-US" dirty="0" err="1">
                <a:solidFill>
                  <a:srgbClr val="000000"/>
                </a:solidFill>
                <a:latin typeface="Constantia"/>
              </a:rPr>
              <a:t>EmporiUm</a:t>
            </a:r>
            <a:br>
              <a:rPr lang="en-US" dirty="0">
                <a:solidFill>
                  <a:srgbClr val="000000"/>
                </a:solidFill>
                <a:latin typeface="Constantia"/>
              </a:rPr>
            </a:br>
            <a:br>
              <a:rPr lang="en-US" dirty="0">
                <a:solidFill>
                  <a:srgbClr val="000000"/>
                </a:solidFill>
                <a:latin typeface="Constantia"/>
              </a:rPr>
            </a:br>
            <a:endParaRPr lang="en-US" dirty="0">
              <a:solidFill>
                <a:srgbClr val="000000"/>
              </a:solidFill>
              <a:latin typeface="Constantia"/>
            </a:endParaRPr>
          </a:p>
        </p:txBody>
      </p:sp>
    </p:spTree>
    <p:extLst>
      <p:ext uri="{BB962C8B-B14F-4D97-AF65-F5344CB8AC3E}">
        <p14:creationId xmlns:p14="http://schemas.microsoft.com/office/powerpoint/2010/main" val="4293316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46B4C-93F9-6823-989E-BD1F3D3BAE10}"/>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AD9E3D02-D3C0-25A4-71D4-B91906D4B23B}"/>
              </a:ext>
            </a:extLst>
          </p:cNvPr>
          <p:cNvSpPr/>
          <p:nvPr/>
        </p:nvSpPr>
        <p:spPr>
          <a:xfrm>
            <a:off x="-1707090" y="-1650418"/>
            <a:ext cx="15002781" cy="4449081"/>
          </a:xfrm>
          <a:prstGeom prst="ellipse">
            <a:avLst/>
          </a:prstGeom>
          <a:solidFill>
            <a:srgbClr val="786310"/>
          </a:solidFill>
          <a:ln w="57150">
            <a:solidFill>
              <a:srgbClr val="EDD1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248E9AA-1551-DCC8-2DCF-C19EACF01E50}"/>
              </a:ext>
            </a:extLst>
          </p:cNvPr>
          <p:cNvSpPr>
            <a:spLocks noGrp="1"/>
          </p:cNvSpPr>
          <p:nvPr>
            <p:ph idx="1"/>
          </p:nvPr>
        </p:nvSpPr>
        <p:spPr>
          <a:xfrm>
            <a:off x="535522" y="3042497"/>
            <a:ext cx="10515600" cy="1085624"/>
          </a:xfrm>
        </p:spPr>
        <p:txBody>
          <a:bodyPr vert="horz" lIns="91440" tIns="45720" rIns="91440" bIns="45720" rtlCol="0" anchor="t">
            <a:normAutofit/>
          </a:bodyPr>
          <a:lstStyle/>
          <a:p>
            <a:r>
              <a:rPr lang="en-US" sz="2000">
                <a:solidFill>
                  <a:srgbClr val="EDD161"/>
                </a:solidFill>
                <a:latin typeface="Constantia"/>
              </a:rPr>
              <a:t>The first thing I noticed when analyzing the data is that Maryland makes up almost half of the regions sales</a:t>
            </a:r>
          </a:p>
        </p:txBody>
      </p:sp>
      <p:sp>
        <p:nvSpPr>
          <p:cNvPr id="6" name="Content Placeholder 2">
            <a:extLst>
              <a:ext uri="{FF2B5EF4-FFF2-40B4-BE49-F238E27FC236}">
                <a16:creationId xmlns:a16="http://schemas.microsoft.com/office/drawing/2014/main" id="{A3926E6C-5429-433F-255F-D7AD853218B5}"/>
              </a:ext>
            </a:extLst>
          </p:cNvPr>
          <p:cNvSpPr txBox="1">
            <a:spLocks/>
          </p:cNvSpPr>
          <p:nvPr/>
        </p:nvSpPr>
        <p:spPr>
          <a:xfrm>
            <a:off x="1679961" y="897259"/>
            <a:ext cx="10515600" cy="108562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rgbClr val="EDD161"/>
                </a:solidFill>
                <a:latin typeface="Constantia"/>
              </a:rPr>
              <a:t>Sales have risen since our start in 2022 to 2025 in all Northeast Region states</a:t>
            </a:r>
            <a:endParaRPr lang="en-US" dirty="0">
              <a:solidFill>
                <a:srgbClr val="EDD161"/>
              </a:solidFill>
              <a:latin typeface="Constantia"/>
            </a:endParaRPr>
          </a:p>
        </p:txBody>
      </p:sp>
      <p:sp>
        <p:nvSpPr>
          <p:cNvPr id="9" name="Content Placeholder 2">
            <a:extLst>
              <a:ext uri="{FF2B5EF4-FFF2-40B4-BE49-F238E27FC236}">
                <a16:creationId xmlns:a16="http://schemas.microsoft.com/office/drawing/2014/main" id="{07203A2C-A51F-E6A1-8B6D-B222ECC0B503}"/>
              </a:ext>
            </a:extLst>
          </p:cNvPr>
          <p:cNvSpPr txBox="1">
            <a:spLocks/>
          </p:cNvSpPr>
          <p:nvPr/>
        </p:nvSpPr>
        <p:spPr>
          <a:xfrm>
            <a:off x="5789624" y="4051855"/>
            <a:ext cx="5684603" cy="1680710"/>
          </a:xfrm>
          <a:prstGeom prst="rect">
            <a:avLst/>
          </a:prstGeom>
        </p:spPr>
        <p:txBody>
          <a:bodyPr vert="horz" lIns="91440" tIns="45720" rIns="91440" bIns="45720" rtlCol="0" anchor="t">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a:solidFill>
                  <a:srgbClr val="EDD161"/>
                </a:solidFill>
                <a:latin typeface="Constantia"/>
              </a:rPr>
              <a:t>Why is that?</a:t>
            </a:r>
            <a:endParaRPr lang="en-US"/>
          </a:p>
          <a:p>
            <a:pPr marL="0" indent="0" algn="r">
              <a:buNone/>
            </a:pPr>
            <a:endParaRPr lang="en-US" dirty="0">
              <a:solidFill>
                <a:srgbClr val="EDD161"/>
              </a:solidFill>
              <a:latin typeface="Constantia"/>
            </a:endParaRPr>
          </a:p>
          <a:p>
            <a:pPr algn="r"/>
            <a:r>
              <a:rPr lang="en-US">
                <a:solidFill>
                  <a:srgbClr val="EDD161"/>
                </a:solidFill>
                <a:latin typeface="Constantia"/>
              </a:rPr>
              <a:t>    University sizes?</a:t>
            </a:r>
          </a:p>
          <a:p>
            <a:pPr algn="r"/>
            <a:r>
              <a:rPr lang="en-US">
                <a:solidFill>
                  <a:srgbClr val="EDD161"/>
                </a:solidFill>
                <a:latin typeface="Constantia"/>
              </a:rPr>
              <a:t> Number of Stores?</a:t>
            </a:r>
            <a:endParaRPr lang="en-US" dirty="0">
              <a:solidFill>
                <a:srgbClr val="EDD161"/>
              </a:solidFill>
              <a:latin typeface="Constantia"/>
            </a:endParaRPr>
          </a:p>
          <a:p>
            <a:pPr algn="r"/>
            <a:r>
              <a:rPr lang="en-US">
                <a:solidFill>
                  <a:srgbClr val="EDD161"/>
                </a:solidFill>
                <a:latin typeface="Constantia"/>
              </a:rPr>
              <a:t>  Better Marketing?</a:t>
            </a:r>
            <a:endParaRPr lang="en-US" dirty="0">
              <a:solidFill>
                <a:srgbClr val="EDD161"/>
              </a:solidFill>
              <a:latin typeface="Constantia"/>
            </a:endParaRPr>
          </a:p>
          <a:p>
            <a:endParaRPr lang="en-US" dirty="0">
              <a:solidFill>
                <a:srgbClr val="EDD161"/>
              </a:solidFill>
              <a:latin typeface="Constantia"/>
            </a:endParaRPr>
          </a:p>
        </p:txBody>
      </p:sp>
      <p:pic>
        <p:nvPicPr>
          <p:cNvPr id="10" name="Picture 9" descr="A graph of the same number of the same number of the same number of the same number of the same number of the same number of the same number of the same number of the same number of&#10;&#10;AI-generated content may be incorrect.">
            <a:extLst>
              <a:ext uri="{FF2B5EF4-FFF2-40B4-BE49-F238E27FC236}">
                <a16:creationId xmlns:a16="http://schemas.microsoft.com/office/drawing/2014/main" id="{977FBC45-7942-BABF-51C1-41F752D9DF1C}"/>
              </a:ext>
            </a:extLst>
          </p:cNvPr>
          <p:cNvPicPr>
            <a:picLocks noChangeAspect="1"/>
          </p:cNvPicPr>
          <p:nvPr/>
        </p:nvPicPr>
        <p:blipFill>
          <a:blip r:embed="rId2"/>
          <a:srcRect l="540" t="3095" r="2411"/>
          <a:stretch>
            <a:fillRect/>
          </a:stretch>
        </p:blipFill>
        <p:spPr>
          <a:xfrm>
            <a:off x="3051537" y="3427763"/>
            <a:ext cx="5500579" cy="2926290"/>
          </a:xfrm>
          <a:prstGeom prst="rect">
            <a:avLst/>
          </a:prstGeom>
        </p:spPr>
      </p:pic>
      <p:sp>
        <p:nvSpPr>
          <p:cNvPr id="12" name="Content Placeholder 2">
            <a:extLst>
              <a:ext uri="{FF2B5EF4-FFF2-40B4-BE49-F238E27FC236}">
                <a16:creationId xmlns:a16="http://schemas.microsoft.com/office/drawing/2014/main" id="{9576F488-A1C2-CFAC-8ADF-0AC7F7D029AA}"/>
              </a:ext>
            </a:extLst>
          </p:cNvPr>
          <p:cNvSpPr txBox="1">
            <a:spLocks/>
          </p:cNvSpPr>
          <p:nvPr/>
        </p:nvSpPr>
        <p:spPr>
          <a:xfrm>
            <a:off x="3764675" y="6350727"/>
            <a:ext cx="4074544" cy="82683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rgbClr val="EDD161"/>
                </a:solidFill>
                <a:latin typeface="Constantia"/>
              </a:rPr>
              <a:t>Wouldn't hurt to look further into this</a:t>
            </a:r>
            <a:endParaRPr lang="en-US" sz="1800"/>
          </a:p>
        </p:txBody>
      </p:sp>
    </p:spTree>
    <p:extLst>
      <p:ext uri="{BB962C8B-B14F-4D97-AF65-F5344CB8AC3E}">
        <p14:creationId xmlns:p14="http://schemas.microsoft.com/office/powerpoint/2010/main" val="3452245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C23BB-D2B6-BE31-7986-80EB2016FA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B68BBD-33B8-FADB-5B87-ADC62929978C}"/>
              </a:ext>
            </a:extLst>
          </p:cNvPr>
          <p:cNvSpPr>
            <a:spLocks noGrp="1"/>
          </p:cNvSpPr>
          <p:nvPr>
            <p:ph idx="1"/>
          </p:nvPr>
        </p:nvSpPr>
        <p:spPr>
          <a:xfrm>
            <a:off x="1643742" y="2957740"/>
            <a:ext cx="8897258" cy="940481"/>
          </a:xfrm>
        </p:spPr>
        <p:txBody>
          <a:bodyPr vert="horz" lIns="91440" tIns="45720" rIns="91440" bIns="45720" rtlCol="0" anchor="t">
            <a:normAutofit/>
          </a:bodyPr>
          <a:lstStyle/>
          <a:p>
            <a:pPr marL="0" indent="0">
              <a:buNone/>
            </a:pPr>
            <a:r>
              <a:rPr lang="en-US" sz="5400" b="1">
                <a:solidFill>
                  <a:srgbClr val="EDD161"/>
                </a:solidFill>
              </a:rPr>
              <a:t>What We're Really Here For</a:t>
            </a:r>
            <a:endParaRPr lang="en-US" sz="5400" b="1"/>
          </a:p>
        </p:txBody>
      </p:sp>
    </p:spTree>
    <p:extLst>
      <p:ext uri="{BB962C8B-B14F-4D97-AF65-F5344CB8AC3E}">
        <p14:creationId xmlns:p14="http://schemas.microsoft.com/office/powerpoint/2010/main" val="830057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344A2-D191-60A9-431E-C2C6FB173EE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333C8510-2D50-AC8C-1A1A-6C65AF72CD1A}"/>
              </a:ext>
            </a:extLst>
          </p:cNvPr>
          <p:cNvSpPr/>
          <p:nvPr/>
        </p:nvSpPr>
        <p:spPr>
          <a:xfrm>
            <a:off x="-1362033" y="-1578531"/>
            <a:ext cx="15002781" cy="4449081"/>
          </a:xfrm>
          <a:prstGeom prst="ellipse">
            <a:avLst/>
          </a:prstGeom>
          <a:solidFill>
            <a:srgbClr val="786310"/>
          </a:solidFill>
          <a:ln w="57150">
            <a:solidFill>
              <a:srgbClr val="EDD1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5FFB73-0F2A-00A8-3031-38DA02D23F35}"/>
              </a:ext>
            </a:extLst>
          </p:cNvPr>
          <p:cNvSpPr>
            <a:spLocks noGrp="1"/>
          </p:cNvSpPr>
          <p:nvPr>
            <p:ph idx="1"/>
          </p:nvPr>
        </p:nvSpPr>
        <p:spPr>
          <a:xfrm>
            <a:off x="650543" y="2419890"/>
            <a:ext cx="5805237" cy="1216388"/>
          </a:xfrm>
        </p:spPr>
        <p:txBody>
          <a:bodyPr vert="horz" lIns="91440" tIns="45720" rIns="91440" bIns="45720" rtlCol="0" anchor="t">
            <a:noAutofit/>
          </a:bodyPr>
          <a:lstStyle/>
          <a:p>
            <a:pPr algn="ctr"/>
            <a:endParaRPr lang="en-US" dirty="0">
              <a:solidFill>
                <a:srgbClr val="EDD161"/>
              </a:solidFill>
              <a:latin typeface="Constantia"/>
            </a:endParaRPr>
          </a:p>
          <a:p>
            <a:pPr marL="0" indent="0" algn="ctr">
              <a:buNone/>
            </a:pPr>
            <a:endParaRPr lang="en-US" sz="3600" dirty="0">
              <a:solidFill>
                <a:srgbClr val="EDD161"/>
              </a:solidFill>
              <a:latin typeface="Constantia"/>
            </a:endParaRPr>
          </a:p>
          <a:p>
            <a:pPr marL="0" indent="0" algn="ctr">
              <a:buNone/>
            </a:pPr>
            <a:endParaRPr lang="en-US" dirty="0">
              <a:solidFill>
                <a:srgbClr val="EDD161"/>
              </a:solidFill>
              <a:latin typeface="Constantia"/>
            </a:endParaRPr>
          </a:p>
          <a:p>
            <a:pPr marL="0" indent="0" algn="ctr">
              <a:buNone/>
            </a:pPr>
            <a:r>
              <a:rPr lang="en-US" sz="2000">
                <a:solidFill>
                  <a:srgbClr val="EDD161"/>
                </a:solidFill>
                <a:latin typeface="Constantia"/>
              </a:rPr>
              <a:t>Fiction and non-fiction</a:t>
            </a:r>
            <a:r>
              <a:rPr lang="en-US" sz="2000" dirty="0">
                <a:solidFill>
                  <a:srgbClr val="EDD161"/>
                </a:solidFill>
                <a:latin typeface="Constantia"/>
              </a:rPr>
              <a:t> are almost evenly split</a:t>
            </a:r>
            <a:endParaRPr lang="en-US" sz="2000">
              <a:latin typeface="Constantia"/>
            </a:endParaRPr>
          </a:p>
          <a:p>
            <a:endParaRPr lang="en-US" dirty="0">
              <a:solidFill>
                <a:srgbClr val="EDD161"/>
              </a:solidFill>
            </a:endParaRPr>
          </a:p>
          <a:p>
            <a:endParaRPr lang="en-US" dirty="0">
              <a:solidFill>
                <a:srgbClr val="EDD161"/>
              </a:solidFill>
            </a:endParaRPr>
          </a:p>
        </p:txBody>
      </p:sp>
      <p:sp>
        <p:nvSpPr>
          <p:cNvPr id="6" name="Content Placeholder 2">
            <a:extLst>
              <a:ext uri="{FF2B5EF4-FFF2-40B4-BE49-F238E27FC236}">
                <a16:creationId xmlns:a16="http://schemas.microsoft.com/office/drawing/2014/main" id="{4D9DBCD7-5CB5-E0AA-4019-F9E5AFB2221A}"/>
              </a:ext>
            </a:extLst>
          </p:cNvPr>
          <p:cNvSpPr txBox="1">
            <a:spLocks/>
          </p:cNvSpPr>
          <p:nvPr/>
        </p:nvSpPr>
        <p:spPr>
          <a:xfrm>
            <a:off x="2889370" y="931080"/>
            <a:ext cx="5609772" cy="194196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000">
                <a:solidFill>
                  <a:srgbClr val="EDD161"/>
                </a:solidFill>
                <a:latin typeface="Constantia"/>
              </a:rPr>
              <a:t>Book Sales</a:t>
            </a:r>
            <a:endParaRPr lang="en-US"/>
          </a:p>
          <a:p>
            <a:pPr algn="ctr">
              <a:buNone/>
            </a:pPr>
            <a:r>
              <a:rPr lang="en-US" sz="2000">
                <a:solidFill>
                  <a:srgbClr val="EDD161"/>
                </a:solidFill>
                <a:latin typeface="Constantia"/>
              </a:rPr>
              <a:t>Looking at our customers purchases</a:t>
            </a:r>
            <a:endParaRPr lang="en-US" sz="2000">
              <a:solidFill>
                <a:srgbClr val="000000"/>
              </a:solidFill>
              <a:latin typeface="Constantia"/>
            </a:endParaRPr>
          </a:p>
          <a:p>
            <a:pPr marL="0" indent="0">
              <a:buNone/>
            </a:pPr>
            <a:endParaRPr lang="en-US" sz="4000" dirty="0">
              <a:solidFill>
                <a:srgbClr val="EDD161"/>
              </a:solidFill>
              <a:latin typeface="Constantia"/>
            </a:endParaRPr>
          </a:p>
        </p:txBody>
      </p:sp>
      <p:pic>
        <p:nvPicPr>
          <p:cNvPr id="2" name="Picture 1" descr="A blue circle with yellow text&#10;&#10;AI-generated content may be incorrect.">
            <a:extLst>
              <a:ext uri="{FF2B5EF4-FFF2-40B4-BE49-F238E27FC236}">
                <a16:creationId xmlns:a16="http://schemas.microsoft.com/office/drawing/2014/main" id="{295ED5DB-E3B0-D669-C27E-B29545A59113}"/>
              </a:ext>
            </a:extLst>
          </p:cNvPr>
          <p:cNvPicPr>
            <a:picLocks noChangeAspect="1"/>
          </p:cNvPicPr>
          <p:nvPr/>
        </p:nvPicPr>
        <p:blipFill>
          <a:blip r:embed="rId2"/>
          <a:srcRect l="2105" t="-966" r="-196" b="-243"/>
          <a:stretch>
            <a:fillRect/>
          </a:stretch>
        </p:blipFill>
        <p:spPr>
          <a:xfrm>
            <a:off x="7649103" y="3119455"/>
            <a:ext cx="3824085" cy="3180578"/>
          </a:xfrm>
          <a:prstGeom prst="rect">
            <a:avLst/>
          </a:prstGeom>
        </p:spPr>
      </p:pic>
      <p:sp>
        <p:nvSpPr>
          <p:cNvPr id="7" name="Content Placeholder 2">
            <a:extLst>
              <a:ext uri="{FF2B5EF4-FFF2-40B4-BE49-F238E27FC236}">
                <a16:creationId xmlns:a16="http://schemas.microsoft.com/office/drawing/2014/main" id="{410FEBC2-1819-FEC5-5919-28FF2D7BEBA5}"/>
              </a:ext>
            </a:extLst>
          </p:cNvPr>
          <p:cNvSpPr txBox="1">
            <a:spLocks/>
          </p:cNvSpPr>
          <p:nvPr/>
        </p:nvSpPr>
        <p:spPr>
          <a:xfrm>
            <a:off x="486640" y="5735309"/>
            <a:ext cx="6976992" cy="112293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rgbClr val="EDD161"/>
                </a:solidFill>
                <a:latin typeface="Constantia"/>
              </a:rPr>
              <a:t>This suggests that our readers are a diverse bunch and that our company has a </a:t>
            </a:r>
            <a:r>
              <a:rPr lang="en-US" sz="1800" dirty="0">
                <a:solidFill>
                  <a:srgbClr val="EDD161"/>
                </a:solidFill>
                <a:latin typeface="Constantia"/>
              </a:rPr>
              <a:t>balanced customer base.</a:t>
            </a:r>
            <a:endParaRPr lang="en-US" dirty="0">
              <a:solidFill>
                <a:srgbClr val="EDD161"/>
              </a:solidFill>
              <a:latin typeface="Constantia"/>
            </a:endParaRPr>
          </a:p>
        </p:txBody>
      </p:sp>
      <p:sp>
        <p:nvSpPr>
          <p:cNvPr id="9" name="Arrow: Right 8">
            <a:extLst>
              <a:ext uri="{FF2B5EF4-FFF2-40B4-BE49-F238E27FC236}">
                <a16:creationId xmlns:a16="http://schemas.microsoft.com/office/drawing/2014/main" id="{A6E1CF53-0618-F532-1255-A414A55493A4}"/>
              </a:ext>
            </a:extLst>
          </p:cNvPr>
          <p:cNvSpPr/>
          <p:nvPr/>
        </p:nvSpPr>
        <p:spPr>
          <a:xfrm rot="660000">
            <a:off x="5704733" y="4576365"/>
            <a:ext cx="1594945" cy="258639"/>
          </a:xfrm>
          <a:prstGeom prst="rightArrow">
            <a:avLst/>
          </a:prstGeom>
          <a:noFill/>
          <a:ln>
            <a:solidFill>
              <a:srgbClr val="EDD1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EDD161"/>
              </a:solidFill>
            </a:endParaRPr>
          </a:p>
        </p:txBody>
      </p:sp>
    </p:spTree>
    <p:extLst>
      <p:ext uri="{BB962C8B-B14F-4D97-AF65-F5344CB8AC3E}">
        <p14:creationId xmlns:p14="http://schemas.microsoft.com/office/powerpoint/2010/main" val="2631020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1A6F0-FF22-04EB-4AF1-434780A85956}"/>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4F0AD6DD-6A89-14DC-F729-5C881966FE92}"/>
              </a:ext>
            </a:extLst>
          </p:cNvPr>
          <p:cNvSpPr/>
          <p:nvPr/>
        </p:nvSpPr>
        <p:spPr>
          <a:xfrm>
            <a:off x="-1405165" y="-1017814"/>
            <a:ext cx="15002781" cy="4449081"/>
          </a:xfrm>
          <a:prstGeom prst="ellipse">
            <a:avLst/>
          </a:prstGeom>
          <a:solidFill>
            <a:srgbClr val="786310"/>
          </a:solidFill>
          <a:ln w="57150">
            <a:solidFill>
              <a:srgbClr val="EDD1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C0B7D99-14C2-618B-0560-3EB7DE3BEB4E}"/>
              </a:ext>
            </a:extLst>
          </p:cNvPr>
          <p:cNvSpPr>
            <a:spLocks noGrp="1"/>
          </p:cNvSpPr>
          <p:nvPr>
            <p:ph idx="1"/>
          </p:nvPr>
        </p:nvSpPr>
        <p:spPr>
          <a:xfrm>
            <a:off x="2071915" y="1440997"/>
            <a:ext cx="8040915" cy="1992766"/>
          </a:xfrm>
        </p:spPr>
        <p:txBody>
          <a:bodyPr vert="horz" lIns="91440" tIns="45720" rIns="91440" bIns="45720" rtlCol="0" anchor="t">
            <a:normAutofit/>
          </a:bodyPr>
          <a:lstStyle/>
          <a:p>
            <a:pPr marL="0" indent="0" algn="ctr">
              <a:buNone/>
            </a:pPr>
            <a:r>
              <a:rPr lang="en-US">
                <a:solidFill>
                  <a:srgbClr val="EDD161"/>
                </a:solidFill>
                <a:latin typeface="Constantia"/>
              </a:rPr>
              <a:t>There seems to be recurring names of:</a:t>
            </a:r>
            <a:endParaRPr lang="en-US">
              <a:latin typeface="Constantia"/>
            </a:endParaRPr>
          </a:p>
          <a:p>
            <a:r>
              <a:rPr lang="en-US">
                <a:solidFill>
                  <a:srgbClr val="EDD161"/>
                </a:solidFill>
                <a:latin typeface="Constantia"/>
              </a:rPr>
              <a:t>George R. R. Martin</a:t>
            </a:r>
            <a:endParaRPr lang="en-US">
              <a:solidFill>
                <a:srgbClr val="000000"/>
              </a:solidFill>
              <a:latin typeface="Constantia"/>
            </a:endParaRPr>
          </a:p>
          <a:p>
            <a:r>
              <a:rPr lang="en-US">
                <a:solidFill>
                  <a:srgbClr val="EDD161"/>
                </a:solidFill>
                <a:latin typeface="Constantia"/>
              </a:rPr>
              <a:t>George Orwell</a:t>
            </a:r>
            <a:endParaRPr lang="en-US">
              <a:latin typeface="Constantia"/>
            </a:endParaRPr>
          </a:p>
        </p:txBody>
      </p:sp>
      <p:sp>
        <p:nvSpPr>
          <p:cNvPr id="2" name="TextBox 1">
            <a:extLst>
              <a:ext uri="{FF2B5EF4-FFF2-40B4-BE49-F238E27FC236}">
                <a16:creationId xmlns:a16="http://schemas.microsoft.com/office/drawing/2014/main" id="{45F666CD-7488-3FD6-11B1-10A5229C28B3}"/>
              </a:ext>
            </a:extLst>
          </p:cNvPr>
          <p:cNvSpPr txBox="1"/>
          <p:nvPr/>
        </p:nvSpPr>
        <p:spPr>
          <a:xfrm>
            <a:off x="5812971" y="5192486"/>
            <a:ext cx="6096000" cy="166199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solidFill>
                  <a:srgbClr val="EDD161"/>
                </a:solidFill>
                <a:latin typeface="Constantia"/>
                <a:cs typeface="Segoe UI"/>
              </a:rPr>
              <a:t>It wouldn’t hurt to look further into this </a:t>
            </a:r>
            <a:r>
              <a:rPr lang="en-US" sz="2800" dirty="0">
                <a:solidFill>
                  <a:srgbClr val="EDD161"/>
                </a:solidFill>
                <a:latin typeface="Constantia"/>
                <a:cs typeface="Segoe UI"/>
              </a:rPr>
              <a:t>and see if we could include them I future promotions or </a:t>
            </a:r>
            <a:r>
              <a:rPr lang="en-US" sz="2800">
                <a:solidFill>
                  <a:srgbClr val="EDD161"/>
                </a:solidFill>
                <a:latin typeface="Constantia"/>
                <a:cs typeface="Segoe UI"/>
              </a:rPr>
              <a:t>featured displays</a:t>
            </a:r>
          </a:p>
          <a:p>
            <a:pPr algn="ctr"/>
            <a:endParaRPr lang="en-US"/>
          </a:p>
        </p:txBody>
      </p:sp>
      <p:pic>
        <p:nvPicPr>
          <p:cNvPr id="4" name="Picture 3" descr="A screenshot of a game&#10;&#10;AI-generated content may be incorrect.">
            <a:extLst>
              <a:ext uri="{FF2B5EF4-FFF2-40B4-BE49-F238E27FC236}">
                <a16:creationId xmlns:a16="http://schemas.microsoft.com/office/drawing/2014/main" id="{21D03E2D-ECDB-D1B4-13D9-47A29682420B}"/>
              </a:ext>
            </a:extLst>
          </p:cNvPr>
          <p:cNvPicPr>
            <a:picLocks noChangeAspect="1"/>
          </p:cNvPicPr>
          <p:nvPr/>
        </p:nvPicPr>
        <p:blipFill>
          <a:blip r:embed="rId2"/>
          <a:stretch>
            <a:fillRect/>
          </a:stretch>
        </p:blipFill>
        <p:spPr>
          <a:xfrm>
            <a:off x="459468" y="4438877"/>
            <a:ext cx="4552950" cy="1971675"/>
          </a:xfrm>
          <a:prstGeom prst="rect">
            <a:avLst/>
          </a:prstGeom>
        </p:spPr>
      </p:pic>
      <p:sp>
        <p:nvSpPr>
          <p:cNvPr id="7" name="TextBox 6">
            <a:extLst>
              <a:ext uri="{FF2B5EF4-FFF2-40B4-BE49-F238E27FC236}">
                <a16:creationId xmlns:a16="http://schemas.microsoft.com/office/drawing/2014/main" id="{2953BA1A-CEB5-6BC6-0FBB-93CA6E29925C}"/>
              </a:ext>
            </a:extLst>
          </p:cNvPr>
          <p:cNvSpPr txBox="1"/>
          <p:nvPr/>
        </p:nvSpPr>
        <p:spPr>
          <a:xfrm>
            <a:off x="5812970" y="3958770"/>
            <a:ext cx="6096000"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solidFill>
                  <a:srgbClr val="EDD161"/>
                </a:solidFill>
                <a:latin typeface="Constantia"/>
                <a:cs typeface="Segoe UI"/>
              </a:rPr>
              <a:t>Suggesting these authors perform consistentl</a:t>
            </a:r>
            <a:r>
              <a:rPr lang="en-US" sz="2800">
                <a:solidFill>
                  <a:srgbClr val="EDD161"/>
                </a:solidFill>
                <a:latin typeface="Constantia"/>
                <a:cs typeface="Segoe UI"/>
              </a:rPr>
              <a:t>y well.</a:t>
            </a:r>
            <a:endParaRPr lang="en-US">
              <a:latin typeface="Constantia"/>
            </a:endParaRPr>
          </a:p>
        </p:txBody>
      </p:sp>
      <p:sp>
        <p:nvSpPr>
          <p:cNvPr id="8" name="Arrow: Left 7">
            <a:extLst>
              <a:ext uri="{FF2B5EF4-FFF2-40B4-BE49-F238E27FC236}">
                <a16:creationId xmlns:a16="http://schemas.microsoft.com/office/drawing/2014/main" id="{915E9049-8298-EEC6-ADF3-C139A8E808DB}"/>
              </a:ext>
            </a:extLst>
          </p:cNvPr>
          <p:cNvSpPr/>
          <p:nvPr/>
        </p:nvSpPr>
        <p:spPr>
          <a:xfrm rot="20460000">
            <a:off x="5265255" y="4591738"/>
            <a:ext cx="786177" cy="411807"/>
          </a:xfrm>
          <a:prstGeom prst="leftArrow">
            <a:avLst/>
          </a:prstGeom>
          <a:solidFill>
            <a:srgbClr val="EDD16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1614BD4-EFE6-E76D-316B-DB7629D4CBF0}"/>
              </a:ext>
            </a:extLst>
          </p:cNvPr>
          <p:cNvSpPr/>
          <p:nvPr/>
        </p:nvSpPr>
        <p:spPr>
          <a:xfrm>
            <a:off x="3427387" y="4386235"/>
            <a:ext cx="1609791" cy="411807"/>
          </a:xfrm>
          <a:prstGeom prst="ellipse">
            <a:avLst/>
          </a:prstGeom>
          <a:noFill/>
          <a:ln>
            <a:solidFill>
              <a:srgbClr val="EDD1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D656236-BA0C-4641-DF41-624D5E45E38C}"/>
              </a:ext>
            </a:extLst>
          </p:cNvPr>
          <p:cNvSpPr/>
          <p:nvPr/>
        </p:nvSpPr>
        <p:spPr>
          <a:xfrm>
            <a:off x="3456415" y="4916005"/>
            <a:ext cx="1609791" cy="411807"/>
          </a:xfrm>
          <a:prstGeom prst="ellipse">
            <a:avLst/>
          </a:prstGeom>
          <a:noFill/>
          <a:ln>
            <a:solidFill>
              <a:srgbClr val="EDD1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0C5D24F-96C9-0777-998F-F16271B184E0}"/>
              </a:ext>
            </a:extLst>
          </p:cNvPr>
          <p:cNvSpPr/>
          <p:nvPr/>
        </p:nvSpPr>
        <p:spPr>
          <a:xfrm>
            <a:off x="3456415" y="5424006"/>
            <a:ext cx="1609791" cy="556949"/>
          </a:xfrm>
          <a:prstGeom prst="ellipse">
            <a:avLst/>
          </a:prstGeom>
          <a:noFill/>
          <a:ln>
            <a:solidFill>
              <a:srgbClr val="EDD1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98994D1-C25A-EF0B-33F3-67B705B6C404}"/>
              </a:ext>
            </a:extLst>
          </p:cNvPr>
          <p:cNvSpPr/>
          <p:nvPr/>
        </p:nvSpPr>
        <p:spPr>
          <a:xfrm>
            <a:off x="3456415" y="6026350"/>
            <a:ext cx="1558991" cy="419064"/>
          </a:xfrm>
          <a:prstGeom prst="ellipse">
            <a:avLst/>
          </a:prstGeom>
          <a:noFill/>
          <a:ln>
            <a:solidFill>
              <a:srgbClr val="EDD1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1157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B0CE9-3401-9E52-B042-21AB9FDDF249}"/>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925957B8-B73C-2971-727C-A3627BAEF9A3}"/>
              </a:ext>
            </a:extLst>
          </p:cNvPr>
          <p:cNvSpPr/>
          <p:nvPr/>
        </p:nvSpPr>
        <p:spPr>
          <a:xfrm>
            <a:off x="-1129804" y="1273526"/>
            <a:ext cx="15002781" cy="7185023"/>
          </a:xfrm>
          <a:prstGeom prst="ellipse">
            <a:avLst/>
          </a:prstGeom>
          <a:solidFill>
            <a:srgbClr val="786310"/>
          </a:solidFill>
          <a:ln w="57150">
            <a:solidFill>
              <a:srgbClr val="EDD1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1ECFEE-9CF1-5B8A-CBDA-F68A7B7B8DB7}"/>
              </a:ext>
            </a:extLst>
          </p:cNvPr>
          <p:cNvSpPr>
            <a:spLocks noGrp="1"/>
          </p:cNvSpPr>
          <p:nvPr>
            <p:ph idx="1"/>
          </p:nvPr>
        </p:nvSpPr>
        <p:spPr>
          <a:xfrm>
            <a:off x="2071915" y="279854"/>
            <a:ext cx="8040915" cy="1992766"/>
          </a:xfrm>
        </p:spPr>
        <p:txBody>
          <a:bodyPr vert="horz" lIns="91440" tIns="45720" rIns="91440" bIns="45720" rtlCol="0" anchor="t">
            <a:normAutofit/>
          </a:bodyPr>
          <a:lstStyle/>
          <a:p>
            <a:pPr marL="0" indent="0" algn="ctr">
              <a:buNone/>
            </a:pPr>
            <a:r>
              <a:rPr lang="en-US" sz="3600">
                <a:solidFill>
                  <a:srgbClr val="EDD161"/>
                </a:solidFill>
                <a:latin typeface="Constantia"/>
              </a:rPr>
              <a:t>Why does Book Sales Matter?</a:t>
            </a:r>
            <a:endParaRPr lang="en-US" sz="3600"/>
          </a:p>
        </p:txBody>
      </p:sp>
      <p:sp>
        <p:nvSpPr>
          <p:cNvPr id="7" name="TextBox 6">
            <a:extLst>
              <a:ext uri="{FF2B5EF4-FFF2-40B4-BE49-F238E27FC236}">
                <a16:creationId xmlns:a16="http://schemas.microsoft.com/office/drawing/2014/main" id="{0D4A2181-628D-52C3-B34B-F222A8072F99}"/>
              </a:ext>
            </a:extLst>
          </p:cNvPr>
          <p:cNvSpPr txBox="1"/>
          <p:nvPr/>
        </p:nvSpPr>
        <p:spPr>
          <a:xfrm>
            <a:off x="827313" y="2267856"/>
            <a:ext cx="11088914"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solidFill>
                  <a:srgbClr val="EDD161"/>
                </a:solidFill>
                <a:latin typeface="Constantia"/>
                <a:cs typeface="Segoe UI"/>
              </a:rPr>
              <a:t>This data gives us a good insight into what customers interests are. By understanding what the highest selling titles and authors are we can </a:t>
            </a:r>
            <a:r>
              <a:rPr lang="en-US" sz="3600">
                <a:solidFill>
                  <a:srgbClr val="EDD161"/>
                </a:solidFill>
                <a:latin typeface="Constantia"/>
                <a:cs typeface="Segoe UI"/>
              </a:rPr>
              <a:t>promote books and/or authors with intent, make more informed inventory decisions, and reveal local reading preferences to compare to </a:t>
            </a:r>
            <a:r>
              <a:rPr lang="en-US" sz="3600" dirty="0">
                <a:solidFill>
                  <a:srgbClr val="EDD161"/>
                </a:solidFill>
                <a:latin typeface="Constantia"/>
                <a:cs typeface="Segoe UI"/>
              </a:rPr>
              <a:t>different regions and states.</a:t>
            </a:r>
          </a:p>
        </p:txBody>
      </p:sp>
    </p:spTree>
    <p:extLst>
      <p:ext uri="{BB962C8B-B14F-4D97-AF65-F5344CB8AC3E}">
        <p14:creationId xmlns:p14="http://schemas.microsoft.com/office/powerpoint/2010/main" val="2520006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3D0CF-BCF8-C45D-1328-7708AB7986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3E0014-FC76-007D-E4BE-A7DDB98C9764}"/>
              </a:ext>
            </a:extLst>
          </p:cNvPr>
          <p:cNvSpPr>
            <a:spLocks noGrp="1"/>
          </p:cNvSpPr>
          <p:nvPr>
            <p:ph idx="1"/>
          </p:nvPr>
        </p:nvSpPr>
        <p:spPr>
          <a:xfrm>
            <a:off x="-1165114" y="647914"/>
            <a:ext cx="8055429" cy="584881"/>
          </a:xfrm>
        </p:spPr>
        <p:txBody>
          <a:bodyPr vert="horz" lIns="91440" tIns="45720" rIns="91440" bIns="45720" rtlCol="0" anchor="t">
            <a:normAutofit/>
          </a:bodyPr>
          <a:lstStyle/>
          <a:p>
            <a:pPr marL="0" indent="0" algn="ctr">
              <a:buNone/>
            </a:pPr>
            <a:r>
              <a:rPr lang="en-US" dirty="0">
                <a:solidFill>
                  <a:srgbClr val="EDD161"/>
                </a:solidFill>
                <a:latin typeface="Constantia"/>
              </a:rPr>
              <a:t>Thank You </a:t>
            </a:r>
            <a:r>
              <a:rPr lang="en-US">
                <a:solidFill>
                  <a:srgbClr val="EDD161"/>
                </a:solidFill>
                <a:latin typeface="Constantia"/>
              </a:rPr>
              <a:t>for Watching</a:t>
            </a:r>
          </a:p>
        </p:txBody>
      </p:sp>
      <p:sp>
        <p:nvSpPr>
          <p:cNvPr id="4" name="TextBox 3">
            <a:extLst>
              <a:ext uri="{FF2B5EF4-FFF2-40B4-BE49-F238E27FC236}">
                <a16:creationId xmlns:a16="http://schemas.microsoft.com/office/drawing/2014/main" id="{6AEE3CAC-E735-F09A-6FC2-ED0DED7FF2EC}"/>
              </a:ext>
            </a:extLst>
          </p:cNvPr>
          <p:cNvSpPr txBox="1"/>
          <p:nvPr/>
        </p:nvSpPr>
        <p:spPr>
          <a:xfrm>
            <a:off x="1" y="1658805"/>
            <a:ext cx="6096000"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dirty="0">
                <a:solidFill>
                  <a:srgbClr val="EDD161"/>
                </a:solidFill>
                <a:latin typeface="Constantia"/>
                <a:cs typeface="Segoe UI"/>
              </a:rPr>
              <a:t>If you want to hear more of my insane ramblings or at look further into my work yourself, you can find out more on my </a:t>
            </a:r>
            <a:r>
              <a:rPr lang="en-US" sz="2800" dirty="0" err="1">
                <a:solidFill>
                  <a:srgbClr val="EDD161"/>
                </a:solidFill>
                <a:latin typeface="Constantia"/>
                <a:cs typeface="Segoe UI"/>
              </a:rPr>
              <a:t>Github</a:t>
            </a:r>
            <a:r>
              <a:rPr lang="en-US" sz="2800" dirty="0">
                <a:solidFill>
                  <a:srgbClr val="EDD161"/>
                </a:solidFill>
                <a:latin typeface="Constantia"/>
                <a:cs typeface="Segoe UI"/>
              </a:rPr>
              <a:t>.</a:t>
            </a:r>
            <a:endParaRPr lang="en-US" sz="2800" dirty="0" err="1">
              <a:solidFill>
                <a:srgbClr val="EDD161"/>
              </a:solidFill>
              <a:latin typeface="Constantia"/>
              <a:cs typeface="Segoe UI"/>
            </a:endParaRPr>
          </a:p>
          <a:p>
            <a:pPr algn="ctr"/>
            <a:endParaRPr lang="en-US">
              <a:solidFill>
                <a:srgbClr val="000000"/>
              </a:solidFill>
              <a:cs typeface="Segoe UI"/>
            </a:endParaRPr>
          </a:p>
        </p:txBody>
      </p:sp>
      <p:sp>
        <p:nvSpPr>
          <p:cNvPr id="6" name="TextBox 5">
            <a:extLst>
              <a:ext uri="{FF2B5EF4-FFF2-40B4-BE49-F238E27FC236}">
                <a16:creationId xmlns:a16="http://schemas.microsoft.com/office/drawing/2014/main" id="{48C28AA2-82A2-51DB-7950-1BFB7C3A0413}"/>
              </a:ext>
            </a:extLst>
          </p:cNvPr>
          <p:cNvSpPr txBox="1"/>
          <p:nvPr/>
        </p:nvSpPr>
        <p:spPr>
          <a:xfrm>
            <a:off x="4673807" y="4105763"/>
            <a:ext cx="7910285"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dirty="0">
                <a:solidFill>
                  <a:srgbClr val="EDD161"/>
                </a:solidFill>
              </a:rPr>
              <a:t>https://github.com/ichantal00/Capstone-3.git</a:t>
            </a:r>
          </a:p>
          <a:p>
            <a:pPr algn="ctr"/>
            <a:endParaRPr lang="en-US"/>
          </a:p>
        </p:txBody>
      </p:sp>
      <p:pic>
        <p:nvPicPr>
          <p:cNvPr id="7" name="Picture 6" descr="A person pointing at a bulletin board&#10;&#10;AI-generated content may be incorrect.">
            <a:extLst>
              <a:ext uri="{FF2B5EF4-FFF2-40B4-BE49-F238E27FC236}">
                <a16:creationId xmlns:a16="http://schemas.microsoft.com/office/drawing/2014/main" id="{AB18702C-191A-D504-7768-6B799893D977}"/>
              </a:ext>
            </a:extLst>
          </p:cNvPr>
          <p:cNvPicPr>
            <a:picLocks noChangeAspect="1"/>
          </p:cNvPicPr>
          <p:nvPr/>
        </p:nvPicPr>
        <p:blipFill>
          <a:blip r:embed="rId2"/>
          <a:stretch>
            <a:fillRect/>
          </a:stretch>
        </p:blipFill>
        <p:spPr>
          <a:xfrm>
            <a:off x="827998" y="4696573"/>
            <a:ext cx="4441372" cy="2015219"/>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65B6D008-C918-6561-3167-1B6692C20260}"/>
              </a:ext>
            </a:extLst>
          </p:cNvPr>
          <p:cNvPicPr>
            <a:picLocks noChangeAspect="1"/>
          </p:cNvPicPr>
          <p:nvPr/>
        </p:nvPicPr>
        <p:blipFill>
          <a:blip r:embed="rId3"/>
          <a:stretch>
            <a:fillRect/>
          </a:stretch>
        </p:blipFill>
        <p:spPr>
          <a:xfrm>
            <a:off x="6096000" y="1658534"/>
            <a:ext cx="5995359" cy="1772519"/>
          </a:xfrm>
          <a:prstGeom prst="rect">
            <a:avLst/>
          </a:prstGeom>
        </p:spPr>
      </p:pic>
    </p:spTree>
    <p:extLst>
      <p:ext uri="{BB962C8B-B14F-4D97-AF65-F5344CB8AC3E}">
        <p14:creationId xmlns:p14="http://schemas.microsoft.com/office/powerpoint/2010/main" val="227826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A Regional Director asked me to analyze the data from the Northeast Region for EmporiUm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460</cp:revision>
  <dcterms:created xsi:type="dcterms:W3CDTF">2026-06-26T08:52:11Z</dcterms:created>
  <dcterms:modified xsi:type="dcterms:W3CDTF">2026-06-26T11:17:31Z</dcterms:modified>
</cp:coreProperties>
</file>